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5F6A7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F6A72"/>
                </a:solidFill>
                <a:latin typeface="Calibri"/>
              </a:rPr>
              <a:t>FY26 revenue credit, ₹ crore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 booked today</c:v>
                  </c:pt>
                  <c:pt idx="1">
                    <c:v>On incentive credit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885</c:v>
                </c:pt>
                <c:pt idx="1">
                  <c:v>847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C87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 booked today</c:v>
                  </c:pt>
                  <c:pt idx="1">
                    <c:v>On incentive credit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265</c:v>
                </c:pt>
                <c:pt idx="1">
                  <c:v>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328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A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328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'You asked me two questions — how much should digital get, and how do I stop the field revolt. They are the same question, and the answer starts with how we count.' Set up: 12 minutes, four answers, one assumption set. Flag early that every number is assumed and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vignette hard — it is the whole case in four sentences. Then the numbers: the discount gap is OURS, not Myntra's. We set it. And 39% capture means we are arguing about attribution while blind to six in ten journeys. The three forces answer 'why now'. Do not linger past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seconds only. The point is not the numbers, it is that they are declared. Say: 'None of this was given to me. If you disagree with a number, the model recalculates — Section 8.1 gives the three that actually move the answer.' Then move on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rule, say it verbatim: 'No unit below the CCO owns a customer. Units own channels; the CCO owns customers.' Two P&amp;Ls chasing one customer in one pincode WILL compete — that is not a culture problem, it is arithmetic. Flag the Digital Catchment Analyst as the hinge role: it gives digital a named human being who wins or loses alongside the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argument is here: we have been using booked revenue for three incompatible purposes. Separating them costs the accounts nothing — digital keeps every rupee it books. What changes is that booked revenue stops doing two jobs it was never fit for. If challenged on the split percentages: they are a judgement, they are published, and they are frozen for twelve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the room. Expect the field to assume the model is a gift to them — it is not, and saying so first is what makes it survive contact with the digital team. Then deliver the resolution: the morale fix is the rate, not the base, and it costs nothing in year one because we hold target earnings whole. Pause here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ring-fence: 17% of the budget belongs to neither channel, and pretending otherwise is what started the argument. Then the criteria — invite the CFO to move the weights, the model recalculates. Finish on the reconciliation box: show this to the digital team BEFORE announcing the headline, or you will lose them over a number that is actually a 28% increase.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catchment component is the innovation — it puts ₹303 cr of digital revenue inside a store team's line of sight for the first time, because 68% of it lands within 8 km of a door. Both teams are paid on the identical number. On the dual gate: the 40% floor is deliberate, not punitive — it must hurt enough that each side has a reason to help the other. And the parity corridor is the root-cause fix: the 14-point gap is self-inflicted.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only the bold lines — the detail is in the report. Emphasise number nine: it is a gate, not an aspiration. If capture stalls below 55% we defer the whole incentive design, because launching it on thin data destroys more trust than the current system does. Then the roadmap: nothing goes national until a 24-store parallel run shows no associate loses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vignette that opened. Do not add anything after it. If time remains, take questions on the split percentages and the ring-fence — those are the two things a CFO will push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737360"/>
            <a:ext cx="5669280" cy="5669280"/>
          </a:xfrm>
          <a:prstGeom prst="ellipse">
            <a:avLst/>
          </a:prstGeom>
          <a:solidFill>
            <a:srgbClr val="27476E"/>
          </a:solidFill>
          <a:ln w="12700">
            <a:solidFill>
              <a:srgbClr val="2747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46120"/>
            <a:ext cx="3566160" cy="3566160"/>
          </a:xfrm>
          <a:prstGeom prst="ellipse">
            <a:avLst/>
          </a:prstGeom>
          <a:solidFill>
            <a:srgbClr val="1F3A5F"/>
          </a:solidFill>
          <a:ln w="22225">
            <a:solidFill>
              <a:srgbClr val="C87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813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DISTRIBUTION MANAGEMENT  ·  CASE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Ending the Channel War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94436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CB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omni-channel sales organisation, attribution logic, budget split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CB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alignment mechanism for Aarav Apparel, FY27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4023360"/>
            <a:ext cx="2834640" cy="0"/>
          </a:xfrm>
          <a:prstGeom prst="line">
            <a:avLst/>
          </a:prstGeom>
          <a:noFill/>
          <a:ln w="31750">
            <a:solidFill>
              <a:srgbClr val="C87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261104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Chief Financial Officer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stores  ·  D2C site &amp; app  ·  Myntra, Ajio, Flipkart, Amazon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healthy P&amp;L sitting on a broken measurement system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074920" cy="1874520"/>
          </a:xfrm>
          <a:prstGeom prst="roundRect">
            <a:avLst>
              <a:gd name="adj" fmla="val 2927"/>
            </a:avLst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Indore, 6:40 pm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associate fits a customer for twenty minutes. The customer photographs the tag and buys the same style that night on Myntra at 26% off.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books nothing. The associate earns nothing. Digital books 100%.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3258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₹1,150 cr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03504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net revenue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0" y="13258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/ 23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96112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vs digital revenue mix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23957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pts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30358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Self-inflicted online-vs-store discount gap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0" y="23957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961120" y="30358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bills with a customer ID — six in ten journeys are invisible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7307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make this urgent, not merely unfair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3429914" cy="1645920"/>
          </a:xfrm>
          <a:prstGeom prst="roundRect">
            <a:avLst>
              <a:gd name="adj" fmla="val 3333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4206240"/>
            <a:ext cx="274320" cy="27432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" y="4187952"/>
            <a:ext cx="26252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reached fashion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" y="4553712"/>
            <a:ext cx="299100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Myntra's M-Now runs 30-minute delivery from 87+ dark stores across ten markets. The store's last operational edge — immediacy — is gone.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1162" y="4023360"/>
            <a:ext cx="3429914" cy="1645920"/>
          </a:xfrm>
          <a:prstGeom prst="roundRect">
            <a:avLst>
              <a:gd name="adj" fmla="val 3333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0618" y="4206240"/>
            <a:ext cx="274320" cy="27432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23" name="Text 21"/>
          <p:cNvSpPr/>
          <p:nvPr/>
        </p:nvSpPr>
        <p:spPr>
          <a:xfrm>
            <a:off x="4490618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6378" y="4187952"/>
            <a:ext cx="26252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margin is tightening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90618" y="4553712"/>
            <a:ext cx="299100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deductions of 30–40% of selling price. Marketplace growth buys revenue at two-thirds of a store rupee's margin.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5397" y="4023360"/>
            <a:ext cx="3429914" cy="1645920"/>
          </a:xfrm>
          <a:prstGeom prst="roundRect">
            <a:avLst>
              <a:gd name="adj" fmla="val 3333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4853" y="4206240"/>
            <a:ext cx="274320" cy="274320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28" name="Text 26"/>
          <p:cNvSpPr/>
          <p:nvPr/>
        </p:nvSpPr>
        <p:spPr>
          <a:xfrm>
            <a:off x="8194853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60613" y="4187952"/>
            <a:ext cx="26252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brands are buying what we own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194853" y="4553712"/>
            <a:ext cx="299100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Snitch targeting 100 stores, The Souled Store 200. We already have 120 — and we account for them as a cost centre.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Indian Retailer (2025); TechCrunch (2024); Terra Insight (2025); Inc42 (2025); Exchange4media (2025).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RECORD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this deck is an assumption — here they are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16736"/>
            <a:ext cx="11057839" cy="498348"/>
          </a:xfrm>
          <a:prstGeom prst="roundRect">
            <a:avLst>
              <a:gd name="adj" fmla="val 1100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316736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net revenue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01568" y="1316736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₹1,150 cr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87568" y="1316736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₹885 cr · Marketplace ₹184 cr · D2C ₹81 cr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1815084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01568" y="1815084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stores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87568" y="1815084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sq ft average · ₹7.38 cr revenue per door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313432"/>
            <a:ext cx="11057839" cy="498348"/>
          </a:xfrm>
          <a:prstGeom prst="roundRect">
            <a:avLst>
              <a:gd name="adj" fmla="val 1100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313432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01568" y="2313432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/ 55 / 37%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87568" y="2313432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· D2C · Marketplace (net of commission and returns)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" y="2811780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contribution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01568" y="2811780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87568" y="2811780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rent 9.5% and payroll 6.8% of store net sales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310128"/>
            <a:ext cx="11057839" cy="498348"/>
          </a:xfrm>
          <a:prstGeom prst="roundRect">
            <a:avLst>
              <a:gd name="adj" fmla="val 1100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310128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01568" y="3310128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17 / 29%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87568" y="3310128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· D2C · Marketplace — blended 14.2%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" y="3808476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to MRP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01568" y="3808476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18 / 26%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87568" y="3808476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· D2C · Marketplace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306824"/>
            <a:ext cx="11057839" cy="498348"/>
          </a:xfrm>
          <a:prstGeom prst="roundRect">
            <a:avLst>
              <a:gd name="adj" fmla="val 1100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306824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01568" y="4306824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1,080 + 62 + 45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87568" y="4306824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Store-facing · Digital · Omni ops, CRM and planning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8096" y="4805172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near a store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01568" y="4805172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87568" y="4805172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digital revenue landing within 8 km of a door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303520"/>
            <a:ext cx="11057839" cy="498348"/>
          </a:xfrm>
          <a:prstGeom prst="roundRect">
            <a:avLst>
              <a:gd name="adj" fmla="val 1100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5303520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plan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401568" y="5303520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₹1,392 cr (+21%)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87568" y="5303520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net new stores · digital to ₹391 cr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68096" y="5801868"/>
            <a:ext cx="26060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S&amp;D budget in scope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401568" y="5801868"/>
            <a:ext cx="21488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 cr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87568" y="5801868"/>
            <a:ext cx="5708599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 of planned revenue · FY26 actual ₹118 cr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crore = 10 million. Figures net of GST. Full assumption set and sensitivities in Section 2 and 8.1 of the report.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3856" y="301752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" y="493776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commercial P&amp;L above the channels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892040" y="117043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5F6A72"/>
          </a:solidFill>
          <a:ln w="12700">
            <a:solidFill>
              <a:srgbClr val="5F6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178308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77640" y="1810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Chief Commercial Officer  (new)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77640" y="20665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role carrying a revenue number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627632"/>
            <a:ext cx="0" cy="155448"/>
          </a:xfrm>
          <a:prstGeom prst="line">
            <a:avLst/>
          </a:prstGeom>
          <a:noFill/>
          <a:ln w="19050">
            <a:solidFill>
              <a:srgbClr val="C9C2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350008"/>
            <a:ext cx="0" cy="256032"/>
          </a:xfrm>
          <a:prstGeom prst="line">
            <a:avLst/>
          </a:prstGeom>
          <a:noFill/>
          <a:ln w="19050">
            <a:solidFill>
              <a:srgbClr val="C9C2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606040"/>
            <a:ext cx="8778240" cy="0"/>
          </a:xfrm>
          <a:prstGeom prst="line">
            <a:avLst/>
          </a:prstGeom>
          <a:noFill/>
          <a:ln w="19050">
            <a:solidFill>
              <a:srgbClr val="C9C2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7392" y="2606040"/>
            <a:ext cx="0" cy="228600"/>
          </a:xfrm>
          <a:prstGeom prst="line">
            <a:avLst/>
          </a:prstGeom>
          <a:noFill/>
          <a:ln w="19050">
            <a:solidFill>
              <a:srgbClr val="C9C2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40968" y="2834640"/>
            <a:ext cx="22128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2E7D74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87272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87272" y="3127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87272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zonal heads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area managers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stores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79696" y="2606040"/>
            <a:ext cx="0" cy="228600"/>
          </a:xfrm>
          <a:prstGeom prst="line">
            <a:avLst/>
          </a:prstGeom>
          <a:noFill/>
          <a:ln w="19050">
            <a:solidFill>
              <a:srgbClr val="C9C2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73272" y="2834640"/>
            <a:ext cx="22128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2E7D74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19576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19576" y="3127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Commerce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19576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· Marketplace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catchment analysts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2000" y="2606040"/>
            <a:ext cx="0" cy="228600"/>
          </a:xfrm>
          <a:prstGeom prst="line">
            <a:avLst/>
          </a:prstGeom>
          <a:noFill/>
          <a:ln w="19050">
            <a:solidFill>
              <a:srgbClr val="C9C2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5576" y="2834640"/>
            <a:ext cx="22128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8721A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1880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51880" y="3127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Operations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1880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Availability-to-promise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Ship-from-store, C&amp;C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network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744304" y="2606040"/>
            <a:ext cx="0" cy="228600"/>
          </a:xfrm>
          <a:prstGeom prst="line">
            <a:avLst/>
          </a:prstGeom>
          <a:noFill/>
          <a:ln w="19050">
            <a:solidFill>
              <a:srgbClr val="C9C2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37880" y="2834640"/>
            <a:ext cx="221284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8721A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84184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784184" y="3127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CRM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84184" y="3474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customer ID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Loyalty, attribution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intelligence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700016"/>
            <a:ext cx="11057839" cy="1517904"/>
          </a:xfrm>
          <a:prstGeom prst="roundRect">
            <a:avLst>
              <a:gd name="adj" fmla="val 3614"/>
            </a:avLst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846320"/>
            <a:ext cx="3320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lose their revenue targets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" y="5321808"/>
            <a:ext cx="33201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keep contribution reporting for cost control. Only the CCO carries revenue — so neither director can win a transfer at the other's expense.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90618" y="4846320"/>
            <a:ext cx="3320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are peers, not support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90618" y="5321808"/>
            <a:ext cx="33201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them into either channel and the data and the inventory get rationed in that channel's favour.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76565" y="4846320"/>
            <a:ext cx="3320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Catchment Councils bind both channels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76565" y="5321808"/>
            <a:ext cx="33201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Chaired by the Area Manager: one forecast, one stock plan, one promotion calendar per cluster. Four outcomes carry two accountable owners, deliberately.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3856" y="301752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" y="493776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using one number for three jobs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360273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5F6A72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40817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credit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17373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cash land?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2048256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to the channel that took payment.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to exactly 100%.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" y="2999232"/>
            <a:ext cx="3163824" cy="0"/>
          </a:xfrm>
          <a:prstGeom prst="line">
            <a:avLst/>
          </a:prstGeom>
          <a:noFill/>
          <a:ln w="12700">
            <a:solidFill>
              <a:srgbClr val="C9C2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0906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accounts, GST, channel P&amp;L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43984" y="1225296"/>
            <a:ext cx="360273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2E7D74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40817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 credit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touched this journey?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048256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to every channel with a qualifying touch.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to more than 100% by design.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999232"/>
            <a:ext cx="3163824" cy="0"/>
          </a:xfrm>
          <a:prstGeom prst="line">
            <a:avLst/>
          </a:prstGeom>
          <a:noFill/>
          <a:ln w="12700">
            <a:solidFill>
              <a:srgbClr val="C9C2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906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allocation, catchment planning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225296"/>
            <a:ext cx="360273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8721A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40496" y="140817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Incentive credit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40496" y="17373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paid for this?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0496" y="2048256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split by journey type.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to exactly 100%.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40496" y="2999232"/>
            <a:ext cx="3163824" cy="0"/>
          </a:xfrm>
          <a:prstGeom prst="line">
            <a:avLst/>
          </a:prstGeom>
          <a:noFill/>
          <a:ln w="12700">
            <a:solidFill>
              <a:srgbClr val="C9C2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0496" y="30906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pay, bonus pool, league tables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82219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Incentive-credit split rules — matched on verified mobile or loyalty ID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169664"/>
            <a:ext cx="3564026" cy="512064"/>
          </a:xfrm>
          <a:prstGeom prst="roundRect">
            <a:avLst>
              <a:gd name="adj" fmla="val 10714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69664"/>
            <a:ext cx="19638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walk-in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49626" y="4169664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36010" y="4169664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₹604 cr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13834" y="4169664"/>
            <a:ext cx="3564026" cy="512064"/>
          </a:xfrm>
          <a:prstGeom prst="roundRect">
            <a:avLst>
              <a:gd name="adj" fmla="val 10714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0138" y="4169664"/>
            <a:ext cx="19638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Webrooming → store (30-day)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96533" y="4169664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30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82917" y="4169664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₹281 cr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60741" y="4169664"/>
            <a:ext cx="3564026" cy="512064"/>
          </a:xfrm>
          <a:prstGeom prst="roundRect">
            <a:avLst>
              <a:gd name="adj" fmla="val 10714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07045" y="4169664"/>
            <a:ext cx="19638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Showrooming → online (14-day)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143439" y="4169664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/ 55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29823" y="4169664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₹71 cr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4828032"/>
            <a:ext cx="3564026" cy="512064"/>
          </a:xfrm>
          <a:prstGeom prst="roundRect">
            <a:avLst>
              <a:gd name="adj" fmla="val 10714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828032"/>
            <a:ext cx="19638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aisle, associate-raised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49626" y="482803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36010" y="482803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 cr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13834" y="4828032"/>
            <a:ext cx="3564026" cy="512064"/>
          </a:xfrm>
          <a:prstGeom prst="roundRect">
            <a:avLst>
              <a:gd name="adj" fmla="val 10714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0138" y="4828032"/>
            <a:ext cx="19638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&amp; collect / ship-from-store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96533" y="482803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/ 60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82917" y="482803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 cr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60741" y="4828032"/>
            <a:ext cx="3564026" cy="512064"/>
          </a:xfrm>
          <a:prstGeom prst="roundRect">
            <a:avLst>
              <a:gd name="adj" fmla="val 10714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07045" y="4828032"/>
            <a:ext cx="19638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/ D2C, no store link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143439" y="482803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929823" y="482803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₹172 cr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6928" y="5504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6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track who bore the decisive cost and risk. In fashion that is fit and trial — which is why webrooming favours the store.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% / Digital %. Only OTP-verified matches earn incentive credit; unmatched volume is sized by geo-holdout and used for budgeting only.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3856" y="301752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— THE TEST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" y="493776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costs stores ₹38 cr. That is why it is credible.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280160"/>
          <a:ext cx="6858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863840" y="1481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give up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63840" y="16824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₹84.3 cr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863840" y="21396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webroomed revenue they bank in full today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651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recover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₹46.2 cr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863840" y="33101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digital-booked revenue they see none of today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 on stores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−₹38 cr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863840" y="44805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credited base — a 4.3% reduction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4791456"/>
            <a:ext cx="11057839" cy="1316736"/>
          </a:xfrm>
          <a:prstGeom prst="roundRect">
            <a:avLst>
              <a:gd name="adj" fmla="val 4167"/>
            </a:avLst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4937760"/>
            <a:ext cx="10509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only ever moved credit towards the aggrieved party would be a political settlement, not a measurement system — and the digital team would be right to refuse it.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41248" y="5340096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store morale in the rate, not the base:  re-base commission from 1.20% of booked sales to 1.254% of credited sales. Target earnings held whole in year one (₹885 cr × 1.20% = ₹847 cr × 1.254% = ₹10.6 cr) — but on a base stores can now grow through digital rather than despite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3856" y="301752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" y="493776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 cr for FY27: 43 / 40 / 17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36027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33502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sales support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1609344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₹60.0 cr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980944" y="170078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F6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43.2%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FY26: ₹44 cr   →   +36%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43984" y="1225296"/>
            <a:ext cx="36027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8721A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33502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growth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1609344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₹55.0 cr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58000" y="170078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F6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212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FY26: ₹68 cr   →   −19%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1225296"/>
            <a:ext cx="360273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2E7D74"/>
            </a:solidFill>
            <a:prstDash val="solid"/>
          </a:ln>
          <a:effectLst>
            <a:outerShdw sx="100000" sy="100000" kx="0" ky="0" algn="bl" rotWithShape="0" blurRad="101600" dist="19050" dir="5400000">
              <a:srgbClr val="9A9A9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40496" y="133502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Omni-shared, ring-fenced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40496" y="1609344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₹24.0 cr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735056" y="170078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F6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17.3%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40496" y="2212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FY26: ₹6 cr   →   +300%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296265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6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weighted criteria — the weights are yours to contest, the scores follow from the model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32735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07408" y="3273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3273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99632" y="3273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529584"/>
            <a:ext cx="6492240" cy="365760"/>
          </a:xfrm>
          <a:prstGeom prst="roundRect">
            <a:avLst>
              <a:gd name="adj" fmla="val 15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529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rupee of spend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07408" y="35295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35295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99632" y="35295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9808" y="3895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growth headroom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07408" y="38953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8953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199632" y="38953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6928" y="4261104"/>
            <a:ext cx="6492240" cy="365760"/>
          </a:xfrm>
          <a:prstGeom prst="roundRect">
            <a:avLst>
              <a:gd name="adj" fmla="val 15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2611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efficiency and CLV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07408" y="42611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42611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99632" y="42611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9808" y="46268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fixed-cost coverage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07408" y="4626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4626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199632" y="4626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66928" y="4992624"/>
            <a:ext cx="6492240" cy="365760"/>
          </a:xfrm>
          <a:prstGeom prst="roundRect">
            <a:avLst>
              <a:gd name="adj" fmla="val 15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" y="4992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capability, irreversibility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07408" y="49926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49926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199632" y="49926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49808" y="5358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revenue share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07408" y="53583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53583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199632" y="53583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5724144"/>
            <a:ext cx="6492240" cy="384048"/>
          </a:xfrm>
          <a:prstGeom prst="roundRect">
            <a:avLst>
              <a:gd name="adj" fmla="val 14286"/>
            </a:avLst>
          </a:prstGeom>
          <a:solidFill>
            <a:srgbClr val="EFEBE2"/>
          </a:solidFill>
          <a:ln w="12700">
            <a:solidFill>
              <a:srgbClr val="EFEB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572414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 →  52.3% / 47.7% of the ₹115 cr that is left after ring-fencing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33488" y="3273552"/>
            <a:ext cx="4291279" cy="2834640"/>
          </a:xfrm>
          <a:prstGeom prst="roundRect">
            <a:avLst>
              <a:gd name="adj" fmla="val 193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62088" y="3419856"/>
            <a:ext cx="3834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Digital's budget falls 19% while its revenue grows 47%.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that defensible?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7562088" y="4242816"/>
            <a:ext cx="38340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digital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₹68.0 cr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non-recurring launch and platform build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₹11.0 cr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spend reclassified to Omni-Shared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₹14.0 cr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base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₹43.0 cr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562088" y="5486400"/>
            <a:ext cx="3834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E8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 ₹55.0 cr is +28% on the continuing base. Digital's working spend rises — only its ownership of shared spend falls.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33856" y="301752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" y="493776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scorecard, one pool, one gate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6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variable pay — same target cost, different earning basis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44368" y="14813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67328" y="14813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6675120" cy="713232"/>
          </a:xfrm>
          <a:prstGeom prst="roundRect">
            <a:avLst>
              <a:gd name="adj" fmla="val 769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Own-channel result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0482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credited sales at 1.254%. Digital: net contribution, not GMV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44368" y="17556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67328" y="17556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2523744"/>
            <a:ext cx="6675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catchment revenue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834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the same number for both teams — 68% of digital lands within 8 km of a door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44368" y="2542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67328" y="2542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3310128"/>
            <a:ext cx="6675120" cy="713232"/>
          </a:xfrm>
          <a:prstGeom prst="roundRect">
            <a:avLst>
              <a:gd name="adj" fmla="val 769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behaviour scorecard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6210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rate, endless aisle, fulfilment SLA, returns, price parity, NPS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44368" y="33284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67328" y="33284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07808" y="1188720"/>
            <a:ext cx="4016959" cy="2944368"/>
          </a:xfrm>
          <a:prstGeom prst="roundRect">
            <a:avLst>
              <a:gd name="adj" fmla="val 186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13350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 cr cross-channel pool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827264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0.32% of planned net revenue, capped at 10% of any individual's fixed CTC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27264" y="2084832"/>
            <a:ext cx="1645920" cy="859536"/>
          </a:xfrm>
          <a:prstGeom prst="roundRect">
            <a:avLst>
              <a:gd name="adj" fmla="val 6383"/>
            </a:avLst>
          </a:prstGeom>
          <a:solidFill>
            <a:srgbClr val="3D6392"/>
          </a:solidFill>
          <a:ln w="12700">
            <a:solidFill>
              <a:srgbClr val="3D63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27264" y="2157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82128" y="235915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credited revenue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97% of plan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57232" y="2084832"/>
            <a:ext cx="1645920" cy="859536"/>
          </a:xfrm>
          <a:prstGeom prst="roundRect">
            <a:avLst>
              <a:gd name="adj" fmla="val 6383"/>
            </a:avLst>
          </a:prstGeom>
          <a:solidFill>
            <a:srgbClr val="3D6392"/>
          </a:solidFill>
          <a:ln w="12700">
            <a:solidFill>
              <a:srgbClr val="3D63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7232" y="2157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12096" y="235915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net contribution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100% of plan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73184" y="23957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27264" y="30540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either gate and the pool funds at 40% — for everyone. Neither team can win while the other loses. That is the entire mechanism.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27264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store field  ·  20% digital  ·  18% omni ops and CRM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4315968"/>
            <a:ext cx="3429914" cy="1810512"/>
          </a:xfrm>
          <a:prstGeom prst="roundRect">
            <a:avLst>
              <a:gd name="adj" fmla="val 3030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48056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Price-parity corridor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68096" y="4773168"/>
            <a:ext cx="30275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5-point cap on the store-vs-own-digital gap, plus a store price-match wallet capped at 1.2% of net sales. We cannot control Myntra's discount. We set our own 14-point gap and can close it tomorrow.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71162" y="4315968"/>
            <a:ext cx="3429914" cy="1810512"/>
          </a:xfrm>
          <a:prstGeom prst="roundRect">
            <a:avLst>
              <a:gd name="adj" fmla="val 3030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72330" y="448056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 per store-fulfilled order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472330" y="4773168"/>
            <a:ext cx="30275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transfer price into the store P&amp;L for ship-from-store and click &amp; collect. Not a bonus — payment for a service the store renders to digital.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975397" y="4315968"/>
            <a:ext cx="3429914" cy="1810512"/>
          </a:xfrm>
          <a:prstGeom prst="roundRect">
            <a:avLst>
              <a:gd name="adj" fmla="val 3030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6565" y="448056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unified KPIs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176565" y="4773168"/>
            <a:ext cx="30275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catchment revenue, credited revenue, net omni contribution, capture rate, cross-channel share, returns, store-fulfilled share, parity compliance, ATP fill, omni NPS. Four are unmeasured today.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moves, sequenced over four quarters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310896" cy="31089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316736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 Chief Commercial Officer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87552" y="1591056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independent revenue targets from Retail and Digital. Everything else depends on this.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51296" y="1353312"/>
            <a:ext cx="310896" cy="31089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6251296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1920" y="1316736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three-ledger credit model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1920" y="1591056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rules for twelve months.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075688"/>
            <a:ext cx="310896" cy="31089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2039112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FY26 on credited revenue and publish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87552" y="2313432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₹847 cr store, ₹303 cr digital. The −₹38 cr is what makes it believable.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1296" y="2075688"/>
            <a:ext cx="310896" cy="31089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51296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1920" y="2039112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budget to ₹60 / ₹55 / ₹24 cr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1920" y="2313432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digital the like-for-like reconciliation before the headline.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2798064"/>
            <a:ext cx="310896" cy="31089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2761488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Re-base store variable pay to 1.254% of credited sales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7552" y="3035808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no-loss guarantee for FY27.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1296" y="2798064"/>
            <a:ext cx="310896" cy="31089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251296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1920" y="2761488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₹4.5 cr dual-gated pool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71920" y="3035808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truce into cooperation.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520440"/>
            <a:ext cx="310896" cy="31089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" y="3483864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self-inflicted 14-point price gap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87552" y="3758184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corridor plus a capped price-match wallet.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51296" y="3520440"/>
            <a:ext cx="310896" cy="31089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251296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1920" y="3483864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₹90 per ship-from-store or click &amp; collect order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671920" y="3758184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field that serving a digital customer is paid work.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242816"/>
            <a:ext cx="310896" cy="310896"/>
          </a:xfrm>
          <a:prstGeom prst="ellipse">
            <a:avLst/>
          </a:prstGeom>
          <a:solidFill>
            <a:srgbClr val="C8721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420624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before you incentivise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87552" y="448056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to 55% before the pilot, 70% before national rollout.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4956048"/>
            <a:ext cx="2682164" cy="1207008"/>
          </a:xfrm>
          <a:prstGeom prst="roundRect">
            <a:avLst>
              <a:gd name="adj" fmla="val 454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065776"/>
            <a:ext cx="235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31520" y="5303520"/>
            <a:ext cx="23529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 appointed · data platform and attribution engine built · consent capture live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5888736"/>
            <a:ext cx="2352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capture ≥ 55%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58820" y="4956048"/>
            <a:ext cx="2682164" cy="1207008"/>
          </a:xfrm>
          <a:prstGeom prst="roundRect">
            <a:avLst>
              <a:gd name="adj" fmla="val 4545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3412" y="5065776"/>
            <a:ext cx="235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523412" y="5303520"/>
            <a:ext cx="23529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in 24 stores · Catchment Councils stood up · parity corridor enforced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23412" y="5888736"/>
            <a:ext cx="2352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variance &lt; 3%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50712" y="4956048"/>
            <a:ext cx="2682164" cy="1207008"/>
          </a:xfrm>
          <a:prstGeom prst="roundRect">
            <a:avLst>
              <a:gd name="adj" fmla="val 4545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15304" y="5065776"/>
            <a:ext cx="235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FY27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315304" y="5303520"/>
            <a:ext cx="23529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 of scorecard and re-based pay · ship-from-store in 60 doors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15304" y="5888736"/>
            <a:ext cx="2352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capture ≥ 70%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942603" y="4956048"/>
            <a:ext cx="2682164" cy="1207008"/>
          </a:xfrm>
          <a:prstGeom prst="roundRect">
            <a:avLst>
              <a:gd name="adj" fmla="val 4545"/>
            </a:avLst>
          </a:prstGeom>
          <a:solidFill>
            <a:srgbClr val="F7F5F0"/>
          </a:solidFill>
          <a:ln w="12700">
            <a:solidFill>
              <a:srgbClr val="C9C2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07195" y="5065776"/>
            <a:ext cx="235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107195" y="5303520"/>
            <a:ext cx="23529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pays out on the dual gate · FY28 budget rebuilt on credited revenue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107195" y="5888736"/>
            <a:ext cx="2352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F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audited by Finance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863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AT FY27 EXIT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316736"/>
            <a:ext cx="255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 → 75%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822960" cy="0"/>
          </a:xfrm>
          <a:prstGeom prst="line">
            <a:avLst/>
          </a:prstGeom>
          <a:noFill/>
          <a:ln w="25400">
            <a:solidFill>
              <a:srgbClr val="C87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212848"/>
            <a:ext cx="255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bills carrying a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customer 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99968" y="1316736"/>
            <a:ext cx="255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 → 18%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399968" y="2103120"/>
            <a:ext cx="822960" cy="0"/>
          </a:xfrm>
          <a:prstGeom prst="line">
            <a:avLst/>
          </a:prstGeom>
          <a:noFill/>
          <a:ln w="25400">
            <a:solidFill>
              <a:srgbClr val="C87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9968" y="2212848"/>
            <a:ext cx="255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buying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or more channels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33008" y="1316736"/>
            <a:ext cx="255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→ 22%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233008" y="2103120"/>
            <a:ext cx="822960" cy="0"/>
          </a:xfrm>
          <a:prstGeom prst="line">
            <a:avLst/>
          </a:prstGeom>
          <a:noFill/>
          <a:ln w="25400">
            <a:solidFill>
              <a:srgbClr val="C87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2212848"/>
            <a:ext cx="255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orders fulfilled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66047" y="1316736"/>
            <a:ext cx="255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10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066047" y="2103120"/>
            <a:ext cx="822960" cy="0"/>
          </a:xfrm>
          <a:prstGeom prst="line">
            <a:avLst/>
          </a:prstGeom>
          <a:noFill/>
          <a:ln w="25400">
            <a:solidFill>
              <a:srgbClr val="C87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6047" y="2212848"/>
            <a:ext cx="255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Scorecard KPIs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F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instrumented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11057839" cy="0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57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sentence this deck opened with 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968496"/>
            <a:ext cx="106006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associate in Indore fits a customer for twenty minutes and books nothing”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66928" y="475488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8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is no longer true.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Apparel  ·  Sales &amp; Distribution Management case analysis  ·  July 2026  ·  Full analysis, assumptions and Harvard-style references in the accompanying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Aarav Apparel: Ending the Channel War</dc:title>
  <dc:subject>PptxGenJS Presentation</dc:subject>
  <dc:creator>Aarav Apparel — Commercial Strategy</dc:creator>
  <cp:lastModifiedBy>Aarav Apparel — Commercial Strategy</cp:lastModifiedBy>
  <cp:revision>1</cp:revision>
  <dcterms:created xsi:type="dcterms:W3CDTF">2026-07-27T22:33:44Z</dcterms:created>
  <dcterms:modified xsi:type="dcterms:W3CDTF">2026-07-27T22:33:44Z</dcterms:modified>
</cp:coreProperties>
</file>